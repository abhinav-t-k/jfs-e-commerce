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75" r:id="rId2"/>
    <p:sldId id="388" r:id="rId3"/>
    <p:sldId id="390" r:id="rId4"/>
    <p:sldId id="393" r:id="rId5"/>
    <p:sldId id="402" r:id="rId6"/>
    <p:sldId id="407" r:id="rId7"/>
    <p:sldId id="410" r:id="rId8"/>
    <p:sldId id="413" r:id="rId9"/>
    <p:sldId id="416" r:id="rId10"/>
    <p:sldId id="417" r:id="rId11"/>
    <p:sldId id="419"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0A2745-8E8E-905F-4EF6-51A957003B93}" name="Jayanth reddy Katam" initials="JK" userId="c6e7d371f244bd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3F2ED-6BD1-4CDD-82F2-6FABC7D94A40}" v="5" dt="2025-10-28T12:18:30.9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showGuides="1">
      <p:cViewPr varScale="1">
        <p:scale>
          <a:sx n="78" d="100"/>
          <a:sy n="78" d="100"/>
        </p:scale>
        <p:origin x="185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 reddy Katam" userId="c6e7d371f244bdbf" providerId="LiveId" clId="{BEED222E-E174-49A0-927F-28D2BCD624EC}"/>
    <pc:docChg chg="custSel modSld">
      <pc:chgData name="Jayanth reddy Katam" userId="c6e7d371f244bdbf" providerId="LiveId" clId="{BEED222E-E174-49A0-927F-28D2BCD624EC}" dt="2025-10-28T23:14:26.569" v="208" actId="20577"/>
      <pc:docMkLst>
        <pc:docMk/>
      </pc:docMkLst>
      <pc:sldChg chg="modSp mod">
        <pc:chgData name="Jayanth reddy Katam" userId="c6e7d371f244bdbf" providerId="LiveId" clId="{BEED222E-E174-49A0-927F-28D2BCD624EC}" dt="2025-10-28T23:14:26.569" v="208" actId="20577"/>
        <pc:sldMkLst>
          <pc:docMk/>
          <pc:sldMk cId="0" sldId="275"/>
        </pc:sldMkLst>
        <pc:spChg chg="mod">
          <ac:chgData name="Jayanth reddy Katam" userId="c6e7d371f244bdbf" providerId="LiveId" clId="{BEED222E-E174-49A0-927F-28D2BCD624EC}" dt="2025-10-28T23:14:26.569" v="208" actId="20577"/>
          <ac:spMkLst>
            <pc:docMk/>
            <pc:sldMk cId="0" sldId="275"/>
            <ac:spMk id="9" creationId="{00000000-0000-0000-0000-000000000000}"/>
          </ac:spMkLst>
        </pc:spChg>
        <pc:spChg chg="mod">
          <ac:chgData name="Jayanth reddy Katam" userId="c6e7d371f244bdbf" providerId="LiveId" clId="{BEED222E-E174-49A0-927F-28D2BCD624EC}" dt="2025-10-28T23:14:15.469" v="206" actId="20577"/>
          <ac:spMkLst>
            <pc:docMk/>
            <pc:sldMk cId="0" sldId="275"/>
            <ac:spMk id="14" creationId="{00000000-0000-0000-0000-000000000000}"/>
          </ac:spMkLst>
        </pc:spChg>
      </pc:sldChg>
      <pc:sldChg chg="addSp delSp modSp mod">
        <pc:chgData name="Jayanth reddy Katam" userId="c6e7d371f244bdbf" providerId="LiveId" clId="{BEED222E-E174-49A0-927F-28D2BCD624EC}" dt="2025-10-28T12:13:50.259" v="26" actId="14100"/>
        <pc:sldMkLst>
          <pc:docMk/>
          <pc:sldMk cId="601917120" sldId="413"/>
        </pc:sldMkLst>
        <pc:spChg chg="mod">
          <ac:chgData name="Jayanth reddy Katam" userId="c6e7d371f244bdbf" providerId="LiveId" clId="{BEED222E-E174-49A0-927F-28D2BCD624EC}" dt="2025-10-28T12:13:03.440" v="21" actId="20577"/>
          <ac:spMkLst>
            <pc:docMk/>
            <pc:sldMk cId="601917120" sldId="413"/>
            <ac:spMk id="8" creationId="{EE1B8938-ED97-D6F3-94B6-56941308DDC8}"/>
          </ac:spMkLst>
        </pc:spChg>
        <pc:picChg chg="del">
          <ac:chgData name="Jayanth reddy Katam" userId="c6e7d371f244bdbf" providerId="LiveId" clId="{BEED222E-E174-49A0-927F-28D2BCD624EC}" dt="2025-10-28T12:12:47.421" v="0" actId="478"/>
          <ac:picMkLst>
            <pc:docMk/>
            <pc:sldMk cId="601917120" sldId="413"/>
            <ac:picMk id="7" creationId="{281D7ABC-E791-D1FB-0507-A5DD454984B0}"/>
          </ac:picMkLst>
        </pc:picChg>
        <pc:picChg chg="add mod">
          <ac:chgData name="Jayanth reddy Katam" userId="c6e7d371f244bdbf" providerId="LiveId" clId="{BEED222E-E174-49A0-927F-28D2BCD624EC}" dt="2025-10-28T12:13:50.259" v="26" actId="14100"/>
          <ac:picMkLst>
            <pc:docMk/>
            <pc:sldMk cId="601917120" sldId="413"/>
            <ac:picMk id="9" creationId="{5C66F302-372D-24C4-9936-F22E6DC0CD68}"/>
          </ac:picMkLst>
        </pc:picChg>
      </pc:sldChg>
      <pc:sldChg chg="addSp delSp modSp mod">
        <pc:chgData name="Jayanth reddy Katam" userId="c6e7d371f244bdbf" providerId="LiveId" clId="{BEED222E-E174-49A0-927F-28D2BCD624EC}" dt="2025-10-28T12:16:36.260" v="111" actId="20577"/>
        <pc:sldMkLst>
          <pc:docMk/>
          <pc:sldMk cId="4026276336" sldId="416"/>
        </pc:sldMkLst>
        <pc:spChg chg="mod">
          <ac:chgData name="Jayanth reddy Katam" userId="c6e7d371f244bdbf" providerId="LiveId" clId="{BEED222E-E174-49A0-927F-28D2BCD624EC}" dt="2025-10-28T12:16:36.260" v="111" actId="20577"/>
          <ac:spMkLst>
            <pc:docMk/>
            <pc:sldMk cId="4026276336" sldId="416"/>
            <ac:spMk id="10" creationId="{CC522913-6A06-127B-5854-A1681F8D6446}"/>
          </ac:spMkLst>
        </pc:spChg>
        <pc:picChg chg="add mod">
          <ac:chgData name="Jayanth reddy Katam" userId="c6e7d371f244bdbf" providerId="LiveId" clId="{BEED222E-E174-49A0-927F-28D2BCD624EC}" dt="2025-10-28T12:15:06.251" v="61" actId="14100"/>
          <ac:picMkLst>
            <pc:docMk/>
            <pc:sldMk cId="4026276336" sldId="416"/>
            <ac:picMk id="7" creationId="{CADEDB57-547B-3BA8-F347-E68BA2FC30EF}"/>
          </ac:picMkLst>
        </pc:picChg>
        <pc:picChg chg="del">
          <ac:chgData name="Jayanth reddy Katam" userId="c6e7d371f244bdbf" providerId="LiveId" clId="{BEED222E-E174-49A0-927F-28D2BCD624EC}" dt="2025-10-28T12:14:22.371" v="56" actId="478"/>
          <ac:picMkLst>
            <pc:docMk/>
            <pc:sldMk cId="4026276336" sldId="416"/>
            <ac:picMk id="9" creationId="{D1F5E1D4-994B-495B-6C7C-EB23C7330726}"/>
          </ac:picMkLst>
        </pc:picChg>
      </pc:sldChg>
      <pc:sldChg chg="addSp delSp modSp mod">
        <pc:chgData name="Jayanth reddy Katam" userId="c6e7d371f244bdbf" providerId="LiveId" clId="{BEED222E-E174-49A0-927F-28D2BCD624EC}" dt="2025-10-28T12:16:24.714" v="91" actId="20577"/>
        <pc:sldMkLst>
          <pc:docMk/>
          <pc:sldMk cId="209658558" sldId="417"/>
        </pc:sldMkLst>
        <pc:spChg chg="mod">
          <ac:chgData name="Jayanth reddy Katam" userId="c6e7d371f244bdbf" providerId="LiveId" clId="{BEED222E-E174-49A0-927F-28D2BCD624EC}" dt="2025-10-28T12:16:24.714" v="91" actId="20577"/>
          <ac:spMkLst>
            <pc:docMk/>
            <pc:sldMk cId="209658558" sldId="417"/>
            <ac:spMk id="10" creationId="{68C2AE20-28D2-42D0-387D-080908DE7BCB}"/>
          </ac:spMkLst>
        </pc:spChg>
        <pc:picChg chg="del">
          <ac:chgData name="Jayanth reddy Katam" userId="c6e7d371f244bdbf" providerId="LiveId" clId="{BEED222E-E174-49A0-927F-28D2BCD624EC}" dt="2025-10-28T12:15:12.999" v="62" actId="478"/>
          <ac:picMkLst>
            <pc:docMk/>
            <pc:sldMk cId="209658558" sldId="417"/>
            <ac:picMk id="7" creationId="{A12C7981-AF0B-9BF8-CABC-127F67087B45}"/>
          </ac:picMkLst>
        </pc:picChg>
        <pc:picChg chg="add mod">
          <ac:chgData name="Jayanth reddy Katam" userId="c6e7d371f244bdbf" providerId="LiveId" clId="{BEED222E-E174-49A0-927F-28D2BCD624EC}" dt="2025-10-28T12:16:08.975" v="68" actId="14100"/>
          <ac:picMkLst>
            <pc:docMk/>
            <pc:sldMk cId="209658558" sldId="417"/>
            <ac:picMk id="8" creationId="{44837AD4-88F0-CDFA-B0E6-3B0EB4FBDD9F}"/>
          </ac:picMkLst>
        </pc:picChg>
      </pc:sldChg>
      <pc:sldChg chg="addSp delSp modSp mod">
        <pc:chgData name="Jayanth reddy Katam" userId="c6e7d371f244bdbf" providerId="LiveId" clId="{BEED222E-E174-49A0-927F-28D2BCD624EC}" dt="2025-10-28T12:19:02.279" v="193" actId="20577"/>
        <pc:sldMkLst>
          <pc:docMk/>
          <pc:sldMk cId="912951923" sldId="418"/>
        </pc:sldMkLst>
        <pc:spChg chg="mod">
          <ac:chgData name="Jayanth reddy Katam" userId="c6e7d371f244bdbf" providerId="LiveId" clId="{BEED222E-E174-49A0-927F-28D2BCD624EC}" dt="2025-10-28T12:19:02.279" v="193" actId="20577"/>
          <ac:spMkLst>
            <pc:docMk/>
            <pc:sldMk cId="912951923" sldId="418"/>
            <ac:spMk id="10" creationId="{57251DA1-2CE0-A4B1-4C97-984E9C70391A}"/>
          </ac:spMkLst>
        </pc:spChg>
        <pc:picChg chg="del">
          <ac:chgData name="Jayanth reddy Katam" userId="c6e7d371f244bdbf" providerId="LiveId" clId="{BEED222E-E174-49A0-927F-28D2BCD624EC}" dt="2025-10-28T12:16:46.698" v="112" actId="478"/>
          <ac:picMkLst>
            <pc:docMk/>
            <pc:sldMk cId="912951923" sldId="418"/>
            <ac:picMk id="7" creationId="{70717108-EFF7-63B0-8132-C156025E1BAA}"/>
          </ac:picMkLst>
        </pc:picChg>
        <pc:picChg chg="add del mod">
          <ac:chgData name="Jayanth reddy Katam" userId="c6e7d371f244bdbf" providerId="LiveId" clId="{BEED222E-E174-49A0-927F-28D2BCD624EC}" dt="2025-10-28T12:18:37.678" v="187" actId="478"/>
          <ac:picMkLst>
            <pc:docMk/>
            <pc:sldMk cId="912951923" sldId="418"/>
            <ac:picMk id="8" creationId="{3A3BDE1A-EAC1-46EC-BF3C-F073F414AB72}"/>
          </ac:picMkLst>
        </pc:picChg>
        <pc:picChg chg="add mod">
          <ac:chgData name="Jayanth reddy Katam" userId="c6e7d371f244bdbf" providerId="LiveId" clId="{BEED222E-E174-49A0-927F-28D2BCD624EC}" dt="2025-10-28T12:18:56.886" v="192" actId="14100"/>
          <ac:picMkLst>
            <pc:docMk/>
            <pc:sldMk cId="912951923" sldId="418"/>
            <ac:picMk id="11" creationId="{B3D57DD7-DF5A-718F-527A-7836BCAC0EC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12/18/2025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12/18/2025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5</a:t>
            </a:fld>
            <a:endParaRPr lang="en-US"/>
          </a:p>
        </p:txBody>
      </p:sp>
    </p:spTree>
    <p:extLst>
      <p:ext uri="{BB962C8B-B14F-4D97-AF65-F5344CB8AC3E}">
        <p14:creationId xmlns:p14="http://schemas.microsoft.com/office/powerpoint/2010/main" val="2583693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18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18 December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18 December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18 December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18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18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18 December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18 December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1217428" y="3211882"/>
            <a:ext cx="6709143" cy="885409"/>
          </a:xfrm>
        </p:spPr>
        <p:txBody>
          <a:bodyPr>
            <a:normAutofit/>
          </a:bodyPr>
          <a:lstStyle/>
          <a:p>
            <a:r>
              <a:rPr lang="en-US" sz="3600" b="1" dirty="0">
                <a:solidFill>
                  <a:schemeClr val="tx1"/>
                </a:solidFill>
                <a:latin typeface="Times New Roman" panose="02020603050405020304" pitchFamily="18" charset="0"/>
                <a:cs typeface="Times New Roman" panose="02020603050405020304" pitchFamily="18" charset="0"/>
              </a:rPr>
              <a:t>O</a:t>
            </a:r>
            <a:r>
              <a:rPr lang="en-IN" sz="3600" b="1" dirty="0">
                <a:solidFill>
                  <a:schemeClr val="tx1"/>
                </a:solidFill>
                <a:latin typeface="Times New Roman" panose="02020603050405020304" pitchFamily="18" charset="0"/>
                <a:cs typeface="Times New Roman" panose="02020603050405020304" pitchFamily="18" charset="0"/>
              </a:rPr>
              <a:t>nline E-Commerce Store</a:t>
            </a:r>
          </a:p>
          <a:p>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18 December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t>1</a:t>
            </a:fld>
            <a:endParaRPr lang="en-US"/>
          </a:p>
        </p:txBody>
      </p:sp>
      <p:pic>
        <p:nvPicPr>
          <p:cNvPr id="3" name="image2.jpeg"/>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p:cNvSpPr txBox="1"/>
          <p:nvPr/>
        </p:nvSpPr>
        <p:spPr>
          <a:xfrm>
            <a:off x="342898" y="2024316"/>
            <a:ext cx="8610599" cy="1260475"/>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altLang="en-US" b="1" dirty="0">
                <a:latin typeface="Times New Roman" panose="02020603050405020304" pitchFamily="18" charset="0"/>
                <a:cs typeface="Times New Roman" panose="02020603050405020304" pitchFamily="18" charset="0"/>
              </a:rPr>
              <a:t>  SPCB1503 - JAVA FULLSTACK DEVELOPMENT</a:t>
            </a:r>
          </a:p>
          <a:p>
            <a:pPr algn="ctr"/>
            <a:endParaRPr lang="en-US" altLang="en-US" b="1" dirty="0">
              <a:latin typeface="Times New Roman" panose="02020603050405020304" pitchFamily="18" charset="0"/>
              <a:cs typeface="Times New Roman" panose="02020603050405020304" pitchFamily="18" charset="0"/>
            </a:endParaRPr>
          </a:p>
        </p:txBody>
      </p:sp>
      <p:sp>
        <p:nvSpPr>
          <p:cNvPr id="29" name="Subtitle 2"/>
          <p:cNvSpPr txBox="1"/>
          <p:nvPr/>
        </p:nvSpPr>
        <p:spPr>
          <a:xfrm>
            <a:off x="6781800" y="3918790"/>
            <a:ext cx="1981199" cy="58426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000" b="1" dirty="0">
                <a:solidFill>
                  <a:schemeClr val="tx1"/>
                </a:solidFill>
              </a:rPr>
              <a:t>                       </a:t>
            </a:r>
          </a:p>
        </p:txBody>
      </p:sp>
      <p:sp>
        <p:nvSpPr>
          <p:cNvPr id="2" name="Subtitle 2"/>
          <p:cNvSpPr txBox="1"/>
          <p:nvPr/>
        </p:nvSpPr>
        <p:spPr>
          <a:xfrm>
            <a:off x="-304800" y="4275684"/>
            <a:ext cx="2857500" cy="737716"/>
          </a:xfrm>
          <a:prstGeom prst="rect">
            <a:avLst/>
          </a:prstGeom>
        </p:spPr>
        <p:txBody>
          <a:bodyPr vert="horz" lIns="91440" tIns="45720" rIns="91440" bIns="45720" rtlCol="0">
            <a:normAutofit fontScale="475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8000" b="1" dirty="0">
                <a:solidFill>
                  <a:schemeClr val="tx1"/>
                </a:solidFill>
              </a:rPr>
              <a:t>  	</a:t>
            </a:r>
            <a:endParaRPr lang="en-US" sz="7200" b="1" dirty="0">
              <a:solidFill>
                <a:schemeClr val="tx1"/>
              </a:solidFill>
              <a:latin typeface="Times New Roman" panose="02020603050405020304" pitchFamily="18" charset="0"/>
              <a:cs typeface="Times New Roman" panose="02020603050405020304" pitchFamily="18" charset="0"/>
            </a:endParaRPr>
          </a:p>
          <a:p>
            <a:r>
              <a:rPr lang="en-US" sz="1900" b="1" dirty="0">
                <a:solidFill>
                  <a:schemeClr val="tx1"/>
                </a:solidFill>
              </a:rPr>
              <a:t>     </a:t>
            </a:r>
            <a:endParaRPr lang="en-GB" sz="1900" b="1" dirty="0">
              <a:solidFill>
                <a:schemeClr val="tx1"/>
              </a:solidFill>
            </a:endParaRPr>
          </a:p>
        </p:txBody>
      </p:sp>
      <p:sp>
        <p:nvSpPr>
          <p:cNvPr id="7" name="Subtitle 2"/>
          <p:cNvSpPr txBox="1"/>
          <p:nvPr/>
        </p:nvSpPr>
        <p:spPr>
          <a:xfrm>
            <a:off x="5943600" y="4268562"/>
            <a:ext cx="3200400" cy="103458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057400" y="4268562"/>
            <a:ext cx="4724400" cy="2185214"/>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JAVA FULLSTACK</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43110018 – Abhinav T K</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43110431 – K. Jayanth Reddy</a:t>
            </a:r>
          </a:p>
          <a:p>
            <a:pPr algn="ctr"/>
            <a:endParaRPr lang="en-US" sz="20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530352" y="1752600"/>
            <a:ext cx="8229600" cy="4525963"/>
          </a:xfrm>
        </p:spPr>
        <p:txBody>
          <a:bodyPr>
            <a:noAutofit/>
          </a:bodyPr>
          <a:lstStyle/>
          <a:p>
            <a:pPr marL="0" indent="0" algn="just">
              <a:buNone/>
            </a:pPr>
            <a:r>
              <a:rPr lang="en-US" sz="2300" dirty="0">
                <a:latin typeface="+mj-lt"/>
                <a:cs typeface="Arial" panose="020B0604020202020204" pitchFamily="34" charset="0"/>
              </a:rPr>
              <a:t>This project presents a modern e-commerce marketing website developed using React 18, featuring an interactive product showcase and shopping cart functionality. The application incorporates a dynamic product catalog with real-time cart management and responsive design ensuring seamless performance across all devices. Built with React Router DOM, HTML5/CSS3, and JavaScript, the website employs modern CSS techniques for optimal layout management. The final product delivers a professional marketing platform that effectively showcases products while providing users with an intuitive shopping experience, demonstrating proficiency in contemporary web development practices.</a:t>
            </a:r>
          </a:p>
        </p:txBody>
      </p:sp>
      <p:sp>
        <p:nvSpPr>
          <p:cNvPr id="4" name="Date Placeholder 3"/>
          <p:cNvSpPr>
            <a:spLocks noGrp="1"/>
          </p:cNvSpPr>
          <p:nvPr>
            <p:ph type="dt" sz="half" idx="10"/>
          </p:nvPr>
        </p:nvSpPr>
        <p:spPr/>
        <p:txBody>
          <a:bodyPr/>
          <a:lstStyle/>
          <a:p>
            <a:fld id="{EB7275DB-6D13-480B-AC77-F5019BDC5287}" type="datetime3">
              <a:rPr lang="en-US" smtClean="0"/>
              <a:t>18 December 2025</a:t>
            </a:fld>
            <a:endParaRPr lang="en-US" dirty="0"/>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EXISTING SYSTEM</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3</a:t>
            </a:fld>
            <a:endParaRPr lang="en-US" dirty="0"/>
          </a:p>
        </p:txBody>
      </p:sp>
      <p:sp>
        <p:nvSpPr>
          <p:cNvPr id="4" name="Content Placeholder 3"/>
          <p:cNvSpPr>
            <a:spLocks noGrp="1"/>
          </p:cNvSpPr>
          <p:nvPr>
            <p:ph idx="1"/>
          </p:nvPr>
        </p:nvSpPr>
        <p:spPr>
          <a:xfrm>
            <a:off x="457200" y="1745456"/>
            <a:ext cx="8229600" cy="4144963"/>
          </a:xfrm>
        </p:spPr>
        <p:txBody>
          <a:bodyPr>
            <a:noAutofit/>
          </a:bodyPr>
          <a:lstStyle/>
          <a:p>
            <a:pPr marL="0" indent="0" algn="just">
              <a:buNone/>
            </a:pPr>
            <a:r>
              <a:rPr lang="en-US" sz="2300" dirty="0">
                <a:latin typeface="+mj-lt"/>
                <a:cs typeface="Arial" panose="020B0604020202020204" pitchFamily="34" charset="0"/>
              </a:rPr>
              <a:t>Traditional e-commerce marketing websites rely on static HTML pages with limited interactivity and poor mobile responsiveness. These legacy systems feature basic product listings without dynamic filtering, rudimentary shopping cart functionality requiring page refreshes, and inconsistent user experiences across devices. Most existing solutions use outdated technologies like jQuery without component-based architecture, making maintenance challenging. The absence of responsive design leads to suboptimal</a:t>
            </a:r>
          </a:p>
          <a:p>
            <a:pPr marL="0" indent="0" algn="just">
              <a:buNone/>
            </a:pPr>
            <a:r>
              <a:rPr lang="en-US" sz="2300" dirty="0">
                <a:latin typeface="+mj-lt"/>
                <a:cs typeface="Arial" panose="020B0604020202020204" pitchFamily="34" charset="0"/>
              </a:rPr>
              <a:t>mobile viewing experiences, while limited animations create less engaging interfaces compared to modern web standards.</a:t>
            </a:r>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18 December 2025</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PROPOSED SYSTEM</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4</a:t>
            </a:fld>
            <a:endParaRPr lang="en-US" dirty="0"/>
          </a:p>
        </p:txBody>
      </p:sp>
      <p:sp>
        <p:nvSpPr>
          <p:cNvPr id="4" name="Content Placeholder 3"/>
          <p:cNvSpPr>
            <a:spLocks noGrp="1"/>
          </p:cNvSpPr>
          <p:nvPr>
            <p:ph idx="1"/>
          </p:nvPr>
        </p:nvSpPr>
        <p:spPr>
          <a:xfrm>
            <a:off x="457200" y="1685861"/>
            <a:ext cx="8229600" cy="4816475"/>
          </a:xfrm>
        </p:spPr>
        <p:txBody>
          <a:bodyPr>
            <a:normAutofit fontScale="77500" lnSpcReduction="20000"/>
          </a:bodyPr>
          <a:lstStyle/>
          <a:p>
            <a:pPr marL="0" indent="0" algn="just">
              <a:lnSpc>
                <a:spcPct val="120000"/>
              </a:lnSpc>
              <a:buNone/>
            </a:pPr>
            <a:r>
              <a:rPr lang="en-US" sz="3100" dirty="0">
                <a:latin typeface="+mj-lt"/>
                <a:cs typeface="Arial" panose="020B0604020202020204" pitchFamily="34" charset="0"/>
              </a:rPr>
              <a:t>The proposed e-commerce marketing website utilizes React 18 with component-based architecture to deliver a dynamic, interactive user experience. The system features real-</a:t>
            </a:r>
          </a:p>
          <a:p>
            <a:pPr marL="0" indent="0" algn="just">
              <a:lnSpc>
                <a:spcPct val="120000"/>
              </a:lnSpc>
              <a:buNone/>
            </a:pPr>
            <a:r>
              <a:rPr lang="en-US" sz="3100" dirty="0">
                <a:latin typeface="+mj-lt"/>
                <a:cs typeface="Arial" panose="020B0604020202020204" pitchFamily="34" charset="0"/>
              </a:rPr>
              <a:t>time shopping cart functionality, responsive design across all devices, and smooth animations for enhanced engagement. Built with React Router DOM and modern CSS Grid/Flexbox, the platform provides instant product filtering, dynamic updates, and professional UI/UX design. The modular architecture enables easy maintenance and scalability while ensuring consistent performance on desktop, tablet, and mobile devices.</a:t>
            </a:r>
            <a:endParaRPr lang="en-US" sz="2000" dirty="0"/>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18 December 2025</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ADVANTAGES</a:t>
            </a:r>
          </a:p>
        </p:txBody>
      </p:sp>
      <p:sp>
        <p:nvSpPr>
          <p:cNvPr id="10" name="Content Placeholder 9">
            <a:extLst>
              <a:ext uri="{FF2B5EF4-FFF2-40B4-BE49-F238E27FC236}">
                <a16:creationId xmlns:a16="http://schemas.microsoft.com/office/drawing/2014/main" id="{5A878788-6B21-2FA4-B6B2-72E25509F6E3}"/>
              </a:ext>
            </a:extLst>
          </p:cNvPr>
          <p:cNvSpPr>
            <a:spLocks noGrp="1"/>
          </p:cNvSpPr>
          <p:nvPr>
            <p:ph idx="1"/>
          </p:nvPr>
        </p:nvSpPr>
        <p:spPr>
          <a:xfrm>
            <a:off x="457200" y="1510030"/>
            <a:ext cx="8229600" cy="4800600"/>
          </a:xfrm>
        </p:spPr>
        <p:txBody>
          <a:bodyPr>
            <a:normAutofit/>
          </a:bodyPr>
          <a:lstStyle/>
          <a:p>
            <a:pPr marL="0" indent="0">
              <a:buNone/>
            </a:pPr>
            <a:r>
              <a:rPr lang="en-US" sz="2000" dirty="0"/>
              <a:t>• </a:t>
            </a:r>
            <a:r>
              <a:rPr lang="en-US" sz="2000" b="1" dirty="0"/>
              <a:t>Enhanced User Experience </a:t>
            </a:r>
            <a:r>
              <a:rPr lang="en-US" sz="2000" dirty="0"/>
              <a:t>- Real-time interactions and smooth animations</a:t>
            </a:r>
          </a:p>
          <a:p>
            <a:pPr marL="0" indent="0">
              <a:buNone/>
            </a:pPr>
            <a:r>
              <a:rPr lang="en-US" sz="2000" dirty="0"/>
              <a:t>• </a:t>
            </a:r>
            <a:r>
              <a:rPr lang="en-US" sz="2000" b="1" dirty="0"/>
              <a:t>Mobile Responsiveness </a:t>
            </a:r>
            <a:r>
              <a:rPr lang="en-US" sz="2000" dirty="0"/>
              <a:t>- Consistent performance across all devices</a:t>
            </a:r>
          </a:p>
          <a:p>
            <a:pPr marL="0" indent="0">
              <a:buNone/>
            </a:pPr>
            <a:r>
              <a:rPr lang="en-US" sz="2000" dirty="0"/>
              <a:t>• </a:t>
            </a:r>
            <a:r>
              <a:rPr lang="en-US" sz="2000" b="1" dirty="0"/>
              <a:t>Faster Loading Times </a:t>
            </a:r>
            <a:r>
              <a:rPr lang="en-US" sz="2000" dirty="0"/>
              <a:t>- Component-based architecture optimization</a:t>
            </a:r>
          </a:p>
          <a:p>
            <a:pPr marL="0" indent="0">
              <a:buNone/>
            </a:pPr>
            <a:r>
              <a:rPr lang="en-US" sz="2000" dirty="0"/>
              <a:t>• </a:t>
            </a:r>
            <a:r>
              <a:rPr lang="en-US" sz="2000" b="1" dirty="0"/>
              <a:t>Better Maintainability </a:t>
            </a:r>
            <a:r>
              <a:rPr lang="en-US" sz="2000" dirty="0"/>
              <a:t>- Modular design for easy updates</a:t>
            </a:r>
          </a:p>
          <a:p>
            <a:pPr marL="0" indent="0">
              <a:buNone/>
            </a:pPr>
            <a:r>
              <a:rPr lang="en-US" sz="2000" dirty="0"/>
              <a:t>• </a:t>
            </a:r>
            <a:r>
              <a:rPr lang="en-US" sz="2000" b="1" dirty="0"/>
              <a:t>Seamless Navigation </a:t>
            </a:r>
            <a:r>
              <a:rPr lang="en-US" sz="2000" dirty="0"/>
              <a:t>- No page refreshes required</a:t>
            </a:r>
          </a:p>
          <a:p>
            <a:pPr marL="0" indent="0">
              <a:buNone/>
            </a:pPr>
            <a:r>
              <a:rPr lang="en-US" sz="2000" dirty="0"/>
              <a:t>• </a:t>
            </a:r>
            <a:r>
              <a:rPr lang="en-US" sz="2000" b="1" dirty="0"/>
              <a:t>Dynamic Content Updates</a:t>
            </a:r>
            <a:r>
              <a:rPr lang="en-US" sz="2000" dirty="0"/>
              <a:t> - Real-time cart and product management</a:t>
            </a:r>
          </a:p>
          <a:p>
            <a:pPr marL="0" indent="0">
              <a:buNone/>
            </a:pPr>
            <a:r>
              <a:rPr lang="en-US" sz="2000" dirty="0"/>
              <a:t>• </a:t>
            </a:r>
            <a:r>
              <a:rPr lang="en-US" sz="2000" b="1" dirty="0"/>
              <a:t>Professional UI/UX </a:t>
            </a:r>
            <a:r>
              <a:rPr lang="en-US" sz="2000" dirty="0"/>
              <a:t>- Modern design increases user retention</a:t>
            </a:r>
          </a:p>
          <a:p>
            <a:pPr marL="0" indent="0">
              <a:buNone/>
            </a:pPr>
            <a:r>
              <a:rPr lang="en-US" sz="2000" dirty="0"/>
              <a:t>• </a:t>
            </a:r>
            <a:r>
              <a:rPr lang="en-US" sz="2000" b="1" dirty="0"/>
              <a:t>Future-Proof Technology </a:t>
            </a:r>
            <a:r>
              <a:rPr lang="en-US" sz="2000" dirty="0"/>
              <a:t>- Built with latest React standards</a:t>
            </a:r>
          </a:p>
          <a:p>
            <a:pPr marL="0" indent="0">
              <a:buNone/>
            </a:pPr>
            <a:r>
              <a:rPr lang="en-US" sz="2000" dirty="0"/>
              <a:t>• </a:t>
            </a:r>
            <a:r>
              <a:rPr lang="en-US" sz="2000" b="1" dirty="0"/>
              <a:t>Improved SEO Performance </a:t>
            </a:r>
            <a:r>
              <a:rPr lang="en-US" sz="2000" dirty="0"/>
              <a:t>- Better search engine optimization</a:t>
            </a:r>
          </a:p>
          <a:p>
            <a:pPr marL="0" indent="0">
              <a:buNone/>
            </a:pPr>
            <a:r>
              <a:rPr lang="en-US" sz="2000" dirty="0"/>
              <a:t>• </a:t>
            </a:r>
            <a:r>
              <a:rPr lang="en-US" sz="2000" b="1" dirty="0"/>
              <a:t>Easy Debugging </a:t>
            </a:r>
            <a:r>
              <a:rPr lang="en-US" sz="2000" dirty="0"/>
              <a:t>- Component-based testing capabilities</a:t>
            </a:r>
            <a:endParaRPr lang="en-IN" sz="2000" dirty="0"/>
          </a:p>
        </p:txBody>
      </p:sp>
      <p:sp>
        <p:nvSpPr>
          <p:cNvPr id="8" name="Date Placeholder 2"/>
          <p:cNvSpPr>
            <a:spLocks noGrp="1"/>
          </p:cNvSpPr>
          <p:nvPr>
            <p:ph type="dt" sz="half" idx="10"/>
          </p:nvPr>
        </p:nvSpPr>
        <p:spPr/>
        <p:txBody>
          <a:bodyPr/>
          <a:lstStyle/>
          <a:p>
            <a:fld id="{9FE8A9F4-4DB3-4EF1-A315-68E41BB689F2}" type="datetime3">
              <a:rPr lang="en-US" smtClean="0"/>
              <a:pPr/>
              <a:t>18 December 2025</a:t>
            </a:fld>
            <a:endParaRPr lang="en-US" dirty="0"/>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pPr/>
              <a:t>5</a:t>
            </a:fld>
            <a:endParaRPr lang="en-US" dirty="0"/>
          </a:p>
        </p:txBody>
      </p:sp>
      <p:sp>
        <p:nvSpPr>
          <p:cNvPr id="16" name="AutoShape 6" descr="Image of "/>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7" name="AutoShape 8" descr="Image of "/>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DISADVANTAGES</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6</a:t>
            </a:fld>
            <a:endParaRPr lang="en-US" dirty="0"/>
          </a:p>
        </p:txBody>
      </p:sp>
      <p:sp>
        <p:nvSpPr>
          <p:cNvPr id="4" name="Content Placeholder 3"/>
          <p:cNvSpPr>
            <a:spLocks noGrp="1"/>
          </p:cNvSpPr>
          <p:nvPr>
            <p:ph idx="1"/>
          </p:nvPr>
        </p:nvSpPr>
        <p:spPr>
          <a:xfrm>
            <a:off x="457200" y="1447800"/>
            <a:ext cx="8229600" cy="4525963"/>
          </a:xfrm>
        </p:spPr>
        <p:txBody>
          <a:bodyPr>
            <a:noAutofit/>
          </a:bodyPr>
          <a:lstStyle/>
          <a:p>
            <a:pPr marL="0" indent="0" algn="just">
              <a:lnSpc>
                <a:spcPct val="120000"/>
              </a:lnSpc>
              <a:buNone/>
            </a:pPr>
            <a:r>
              <a:rPr lang="en-US" sz="2000" dirty="0"/>
              <a:t>• </a:t>
            </a:r>
            <a:r>
              <a:rPr lang="en-US" sz="2000" b="1" dirty="0"/>
              <a:t>Learning Curve </a:t>
            </a:r>
            <a:r>
              <a:rPr lang="en-US" sz="2000" dirty="0"/>
              <a:t>- Requires knowledge of React and modern JavaScript</a:t>
            </a:r>
          </a:p>
          <a:p>
            <a:pPr marL="0" indent="0" algn="just">
              <a:lnSpc>
                <a:spcPct val="120000"/>
              </a:lnSpc>
              <a:buNone/>
            </a:pPr>
            <a:r>
              <a:rPr lang="en-US" sz="2000" dirty="0"/>
              <a:t>• I</a:t>
            </a:r>
            <a:r>
              <a:rPr lang="en-US" sz="2000" b="1" dirty="0"/>
              <a:t>nitial Setup Complexity </a:t>
            </a:r>
            <a:r>
              <a:rPr lang="en-US" sz="2000" dirty="0"/>
              <a:t>- More complex than basic HTML/CSS websites</a:t>
            </a:r>
          </a:p>
          <a:p>
            <a:pPr marL="0" indent="0" algn="just">
              <a:lnSpc>
                <a:spcPct val="120000"/>
              </a:lnSpc>
              <a:buNone/>
            </a:pPr>
            <a:r>
              <a:rPr lang="en-US" sz="2000" dirty="0"/>
              <a:t>• </a:t>
            </a:r>
            <a:r>
              <a:rPr lang="en-US" sz="2000" b="1" dirty="0"/>
              <a:t>Browser Compatibility </a:t>
            </a:r>
            <a:r>
              <a:rPr lang="en-US" sz="2000" dirty="0"/>
              <a:t>- May not work on very old browsers</a:t>
            </a:r>
          </a:p>
          <a:p>
            <a:pPr marL="0" indent="0" algn="just">
              <a:lnSpc>
                <a:spcPct val="120000"/>
              </a:lnSpc>
              <a:buNone/>
            </a:pPr>
            <a:r>
              <a:rPr lang="en-US" sz="2000" dirty="0"/>
              <a:t>• </a:t>
            </a:r>
            <a:r>
              <a:rPr lang="en-US" sz="2000" b="1" dirty="0"/>
              <a:t>SEO Challenges </a:t>
            </a:r>
            <a:r>
              <a:rPr lang="en-US" sz="2000" dirty="0"/>
              <a:t>- Client-side rendering can affect search indexing</a:t>
            </a:r>
          </a:p>
          <a:p>
            <a:pPr marL="0" indent="0" algn="just">
              <a:lnSpc>
                <a:spcPct val="120000"/>
              </a:lnSpc>
              <a:buNone/>
            </a:pPr>
            <a:r>
              <a:rPr lang="en-US" sz="2000" dirty="0"/>
              <a:t>• </a:t>
            </a:r>
            <a:r>
              <a:rPr lang="en-US" sz="2000" b="1" dirty="0"/>
              <a:t>Development Time </a:t>
            </a:r>
            <a:r>
              <a:rPr lang="en-US" sz="2000" dirty="0"/>
              <a:t>- Takes longer to build than static websites</a:t>
            </a:r>
          </a:p>
          <a:p>
            <a:pPr marL="0" indent="0" algn="just">
              <a:lnSpc>
                <a:spcPct val="120000"/>
              </a:lnSpc>
              <a:buNone/>
            </a:pPr>
            <a:r>
              <a:rPr lang="en-US" sz="2000" dirty="0"/>
              <a:t>• </a:t>
            </a:r>
            <a:r>
              <a:rPr lang="en-US" sz="2000" b="1" dirty="0"/>
              <a:t>Dependency Management </a:t>
            </a:r>
            <a:r>
              <a:rPr lang="en-US" sz="2000" dirty="0"/>
              <a:t>- Relies on external libraries and packages</a:t>
            </a:r>
          </a:p>
          <a:p>
            <a:pPr marL="0" indent="0" algn="just">
              <a:lnSpc>
                <a:spcPct val="120000"/>
              </a:lnSpc>
              <a:buNone/>
            </a:pPr>
            <a:r>
              <a:rPr lang="en-US" sz="2000" dirty="0"/>
              <a:t>• </a:t>
            </a:r>
            <a:r>
              <a:rPr lang="en-US" sz="2000" b="1" dirty="0"/>
              <a:t>Performance Overhead </a:t>
            </a:r>
            <a:r>
              <a:rPr lang="en-US" sz="2000" dirty="0"/>
              <a:t>- JavaScript framework adds processing load</a:t>
            </a:r>
          </a:p>
          <a:p>
            <a:pPr marL="0" indent="0" algn="just">
              <a:lnSpc>
                <a:spcPct val="120000"/>
              </a:lnSpc>
              <a:buNone/>
            </a:pPr>
            <a:r>
              <a:rPr lang="en-US" sz="2000" dirty="0"/>
              <a:t>• </a:t>
            </a:r>
            <a:r>
              <a:rPr lang="en-US" sz="2000" b="1" dirty="0"/>
              <a:t>Hosting Requirements </a:t>
            </a:r>
            <a:r>
              <a:rPr lang="en-US" sz="2000" dirty="0"/>
              <a:t>- May need specific hosting configurations</a:t>
            </a:r>
            <a:endParaRPr lang="en-US" sz="2000" dirty="0">
              <a:latin typeface="Times New Roman" panose="02020603050405020304" pitchFamily="18" charset="0"/>
              <a:cs typeface="Times New Roman" panose="02020603050405020304" pitchFamily="18" charset="0"/>
            </a:endParaRPr>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18 December 2025</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MODULES</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7</a:t>
            </a:fld>
            <a:endParaRPr lang="en-US" dirty="0"/>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18 December 2025</a:t>
            </a:fld>
            <a:endParaRPr lang="en-US" dirty="0"/>
          </a:p>
        </p:txBody>
      </p:sp>
      <p:sp>
        <p:nvSpPr>
          <p:cNvPr id="3" name="Rectangle 1">
            <a:extLst>
              <a:ext uri="{FF2B5EF4-FFF2-40B4-BE49-F238E27FC236}">
                <a16:creationId xmlns:a16="http://schemas.microsoft.com/office/drawing/2014/main" id="{188BA6BF-B4F7-E57C-165F-54DFA5287709}"/>
              </a:ext>
            </a:extLst>
          </p:cNvPr>
          <p:cNvSpPr>
            <a:spLocks noGrp="1" noChangeArrowheads="1"/>
          </p:cNvSpPr>
          <p:nvPr>
            <p:ph idx="1"/>
          </p:nvPr>
        </p:nvSpPr>
        <p:spPr bwMode="auto">
          <a:xfrm>
            <a:off x="457200" y="1543777"/>
            <a:ext cx="729810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None/>
            </a:pPr>
            <a:r>
              <a:rPr lang="en-US" altLang="en-US" sz="2000" b="1" dirty="0">
                <a:latin typeface="+mj-lt"/>
              </a:rPr>
              <a:t>Core Modules:</a:t>
            </a:r>
          </a:p>
          <a:p>
            <a:pPr marL="0" lvl="0" indent="0" algn="just" eaLnBrk="0" fontAlgn="base" hangingPunct="0">
              <a:spcBef>
                <a:spcPct val="0"/>
              </a:spcBef>
              <a:spcAft>
                <a:spcPct val="0"/>
              </a:spcAft>
              <a:buNone/>
            </a:pPr>
            <a:r>
              <a:rPr lang="en-US" altLang="en-US" sz="2000" b="1" dirty="0">
                <a:latin typeface="+mj-lt"/>
              </a:rPr>
              <a:t>• Home Module - </a:t>
            </a:r>
            <a:r>
              <a:rPr lang="en-US" altLang="en-US" sz="2000" dirty="0">
                <a:latin typeface="+mj-lt"/>
              </a:rPr>
              <a:t>Landing page with featured products</a:t>
            </a:r>
          </a:p>
          <a:p>
            <a:pPr marL="0" lvl="0" indent="0" algn="just" eaLnBrk="0" fontAlgn="base" hangingPunct="0">
              <a:spcBef>
                <a:spcPct val="0"/>
              </a:spcBef>
              <a:spcAft>
                <a:spcPct val="0"/>
              </a:spcAft>
              <a:buNone/>
            </a:pPr>
            <a:r>
              <a:rPr lang="en-US" altLang="en-US" sz="2000" b="1" dirty="0">
                <a:latin typeface="+mj-lt"/>
              </a:rPr>
              <a:t>• Product Module - </a:t>
            </a:r>
            <a:r>
              <a:rPr lang="en-US" altLang="en-US" sz="2000" dirty="0">
                <a:latin typeface="+mj-lt"/>
              </a:rPr>
              <a:t>Product catalog and listings</a:t>
            </a:r>
          </a:p>
          <a:p>
            <a:pPr marL="0" lvl="0" indent="0" algn="just" eaLnBrk="0" fontAlgn="base" hangingPunct="0">
              <a:spcBef>
                <a:spcPct val="0"/>
              </a:spcBef>
              <a:spcAft>
                <a:spcPct val="0"/>
              </a:spcAft>
              <a:buNone/>
            </a:pPr>
            <a:r>
              <a:rPr lang="en-US" altLang="en-US" sz="2000" b="1" dirty="0">
                <a:latin typeface="+mj-lt"/>
              </a:rPr>
              <a:t>• Cart Module - </a:t>
            </a:r>
            <a:r>
              <a:rPr lang="en-US" altLang="en-US" sz="2000" dirty="0">
                <a:latin typeface="+mj-lt"/>
              </a:rPr>
              <a:t>Shopping cart functionality</a:t>
            </a:r>
          </a:p>
          <a:p>
            <a:pPr marL="0" lvl="0" indent="0" algn="just" eaLnBrk="0" fontAlgn="base" hangingPunct="0">
              <a:spcBef>
                <a:spcPct val="0"/>
              </a:spcBef>
              <a:spcAft>
                <a:spcPct val="0"/>
              </a:spcAft>
              <a:buNone/>
            </a:pPr>
            <a:r>
              <a:rPr lang="en-US" altLang="en-US" sz="2000" b="1" dirty="0">
                <a:latin typeface="+mj-lt"/>
              </a:rPr>
              <a:t>• Navigation Module - </a:t>
            </a:r>
            <a:r>
              <a:rPr lang="en-US" altLang="en-US" sz="2000" dirty="0">
                <a:latin typeface="+mj-lt"/>
              </a:rPr>
              <a:t>Routing and page navigation</a:t>
            </a:r>
          </a:p>
          <a:p>
            <a:pPr marL="0" lvl="0" indent="0" algn="just" eaLnBrk="0" fontAlgn="base" hangingPunct="0">
              <a:spcBef>
                <a:spcPct val="0"/>
              </a:spcBef>
              <a:spcAft>
                <a:spcPct val="0"/>
              </a:spcAft>
              <a:buNone/>
            </a:pPr>
            <a:r>
              <a:rPr lang="en-US" altLang="en-US" sz="2000" b="1" dirty="0">
                <a:latin typeface="+mj-lt"/>
              </a:rPr>
              <a:t>• UI Module - </a:t>
            </a:r>
            <a:r>
              <a:rPr lang="en-US" altLang="en-US" sz="2000" dirty="0">
                <a:latin typeface="+mj-lt"/>
              </a:rPr>
              <a:t>Responsive design and animations</a:t>
            </a:r>
          </a:p>
          <a:p>
            <a:pPr marL="0" lvl="0" indent="0" algn="just" eaLnBrk="0" fontAlgn="base" hangingPunct="0">
              <a:spcBef>
                <a:spcPct val="0"/>
              </a:spcBef>
              <a:spcAft>
                <a:spcPct val="0"/>
              </a:spcAft>
              <a:buNone/>
            </a:pPr>
            <a:endParaRPr lang="en-US" altLang="en-US" sz="2000" b="1" dirty="0">
              <a:latin typeface="+mj-lt"/>
            </a:endParaRPr>
          </a:p>
          <a:p>
            <a:pPr marL="0" lvl="0" indent="0" algn="just" eaLnBrk="0" fontAlgn="base" hangingPunct="0">
              <a:spcBef>
                <a:spcPct val="0"/>
              </a:spcBef>
              <a:spcAft>
                <a:spcPct val="0"/>
              </a:spcAft>
              <a:buNone/>
            </a:pPr>
            <a:r>
              <a:rPr lang="en-US" altLang="en-US" sz="2000" b="1" dirty="0">
                <a:latin typeface="+mj-lt"/>
              </a:rPr>
              <a:t>Components:</a:t>
            </a:r>
          </a:p>
          <a:p>
            <a:pPr marL="0" lvl="0" indent="0" algn="just" eaLnBrk="0" fontAlgn="base" hangingPunct="0">
              <a:spcBef>
                <a:spcPct val="0"/>
              </a:spcBef>
              <a:spcAft>
                <a:spcPct val="0"/>
              </a:spcAft>
              <a:buNone/>
            </a:pPr>
            <a:r>
              <a:rPr lang="en-US" altLang="en-US" sz="2000" b="1" dirty="0">
                <a:latin typeface="+mj-lt"/>
              </a:rPr>
              <a:t>• Product Display - </a:t>
            </a:r>
            <a:r>
              <a:rPr lang="en-US" altLang="en-US" sz="2000" dirty="0">
                <a:latin typeface="+mj-lt"/>
              </a:rPr>
              <a:t>Product cards and details</a:t>
            </a:r>
          </a:p>
          <a:p>
            <a:pPr marL="0" lvl="0" indent="0" algn="just" eaLnBrk="0" fontAlgn="base" hangingPunct="0">
              <a:spcBef>
                <a:spcPct val="0"/>
              </a:spcBef>
              <a:spcAft>
                <a:spcPct val="0"/>
              </a:spcAft>
              <a:buNone/>
            </a:pPr>
            <a:r>
              <a:rPr lang="en-US" altLang="en-US" sz="2000" b="1" dirty="0">
                <a:latin typeface="+mj-lt"/>
              </a:rPr>
              <a:t>• Cart Management - </a:t>
            </a:r>
            <a:r>
              <a:rPr lang="en-US" altLang="en-US" sz="2000" dirty="0">
                <a:latin typeface="+mj-lt"/>
              </a:rPr>
              <a:t>Add/remove items and calculations</a:t>
            </a:r>
          </a:p>
          <a:p>
            <a:pPr marL="0" lvl="0" indent="0" algn="just" eaLnBrk="0" fontAlgn="base" hangingPunct="0">
              <a:spcBef>
                <a:spcPct val="0"/>
              </a:spcBef>
              <a:spcAft>
                <a:spcPct val="0"/>
              </a:spcAft>
              <a:buNone/>
            </a:pPr>
            <a:r>
              <a:rPr lang="en-US" altLang="en-US" sz="2000" b="1" dirty="0">
                <a:latin typeface="+mj-lt"/>
              </a:rPr>
              <a:t>• Layout Components - </a:t>
            </a:r>
            <a:r>
              <a:rPr lang="en-US" altLang="en-US" sz="2000" dirty="0">
                <a:latin typeface="+mj-lt"/>
              </a:rPr>
              <a:t>Header, footer, and grid structure</a:t>
            </a:r>
          </a:p>
          <a:p>
            <a:pPr marL="0" lvl="0" indent="0" algn="just" eaLnBrk="0" fontAlgn="base" hangingPunct="0">
              <a:spcBef>
                <a:spcPct val="0"/>
              </a:spcBef>
              <a:spcAft>
                <a:spcPct val="0"/>
              </a:spcAft>
              <a:buNone/>
            </a:pPr>
            <a:r>
              <a:rPr lang="en-US" altLang="en-US" sz="2000" b="1" dirty="0">
                <a:latin typeface="+mj-lt"/>
              </a:rPr>
              <a:t>• Form Handling - </a:t>
            </a:r>
            <a:r>
              <a:rPr lang="en-US" altLang="en-US" sz="2000" dirty="0">
                <a:latin typeface="+mj-lt"/>
              </a:rPr>
              <a:t>User input and validation</a:t>
            </a:r>
          </a:p>
          <a:p>
            <a:pPr marL="0" lvl="0" indent="0" algn="just" eaLnBrk="0" fontAlgn="base" hangingPunct="0">
              <a:spcBef>
                <a:spcPct val="0"/>
              </a:spcBef>
              <a:spcAft>
                <a:spcPct val="0"/>
              </a:spcAft>
              <a:buNone/>
            </a:pPr>
            <a:r>
              <a:rPr lang="en-US" altLang="en-US" sz="2000" b="1" dirty="0">
                <a:latin typeface="+mj-lt"/>
              </a:rPr>
              <a:t>• State Management - </a:t>
            </a:r>
            <a:r>
              <a:rPr lang="en-US" altLang="en-US" sz="2000" dirty="0">
                <a:latin typeface="+mj-lt"/>
              </a:rPr>
              <a:t>Application data flow</a:t>
            </a:r>
            <a:endParaRPr kumimoji="0" lang="en-US" altLang="en-US" sz="2000" i="0" u="none" strike="noStrike" cap="none" normalizeH="0" baseline="0" dirty="0">
              <a:ln>
                <a:noFill/>
              </a:ln>
              <a:solidFill>
                <a:schemeClr val="tx1"/>
              </a:solidFill>
              <a:effectLst/>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B7D29-7CBC-05A9-FAD0-83954A8B9BEC}"/>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EE1B8938-ED97-D6F3-94B6-56941308DDC8}"/>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1600" i="1" dirty="0"/>
              <a:t>Fig: Home Page</a:t>
            </a:r>
          </a:p>
        </p:txBody>
      </p:sp>
      <p:sp>
        <p:nvSpPr>
          <p:cNvPr id="3" name="Date Placeholder 2">
            <a:extLst>
              <a:ext uri="{FF2B5EF4-FFF2-40B4-BE49-F238E27FC236}">
                <a16:creationId xmlns:a16="http://schemas.microsoft.com/office/drawing/2014/main" id="{66B14654-560B-651D-4FFF-409834EAADF7}"/>
              </a:ext>
            </a:extLst>
          </p:cNvPr>
          <p:cNvSpPr>
            <a:spLocks noGrp="1"/>
          </p:cNvSpPr>
          <p:nvPr>
            <p:ph type="dt" sz="half" idx="10"/>
          </p:nvPr>
        </p:nvSpPr>
        <p:spPr/>
        <p:txBody>
          <a:bodyPr/>
          <a:lstStyle/>
          <a:p>
            <a:fld id="{B97CCCDB-4457-4C48-985F-BD1C33DF88D2}" type="datetime3">
              <a:rPr lang="en-US" smtClean="0"/>
              <a:t>18 December 2025</a:t>
            </a:fld>
            <a:endParaRPr lang="en-US"/>
          </a:p>
        </p:txBody>
      </p:sp>
      <p:sp>
        <p:nvSpPr>
          <p:cNvPr id="4" name="Footer Placeholder 3">
            <a:extLst>
              <a:ext uri="{FF2B5EF4-FFF2-40B4-BE49-F238E27FC236}">
                <a16:creationId xmlns:a16="http://schemas.microsoft.com/office/drawing/2014/main" id="{E3F2C36E-9086-A731-A357-3922831C9377}"/>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2370A1DF-3F44-0A2A-7D26-15B4DDBB687C}"/>
              </a:ext>
            </a:extLst>
          </p:cNvPr>
          <p:cNvSpPr>
            <a:spLocks noGrp="1"/>
          </p:cNvSpPr>
          <p:nvPr>
            <p:ph type="sldNum" sz="quarter" idx="12"/>
          </p:nvPr>
        </p:nvSpPr>
        <p:spPr/>
        <p:txBody>
          <a:bodyPr/>
          <a:lstStyle/>
          <a:p>
            <a:fld id="{7B28076C-CE04-4A00-BFAA-A90EA8355859}" type="slidenum">
              <a:rPr lang="en-US" smtClean="0"/>
              <a:t>8</a:t>
            </a:fld>
            <a:endParaRPr lang="en-US"/>
          </a:p>
        </p:txBody>
      </p:sp>
      <p:pic>
        <p:nvPicPr>
          <p:cNvPr id="7" name="Picture 6">
            <a:extLst>
              <a:ext uri="{FF2B5EF4-FFF2-40B4-BE49-F238E27FC236}">
                <a16:creationId xmlns:a16="http://schemas.microsoft.com/office/drawing/2014/main" id="{C8FD2CF2-3A69-D1CA-81C4-8B94DD72D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460" y="1334807"/>
            <a:ext cx="7913080" cy="4188386"/>
          </a:xfrm>
          <a:prstGeom prst="rect">
            <a:avLst/>
          </a:prstGeom>
        </p:spPr>
      </p:pic>
    </p:spTree>
    <p:extLst>
      <p:ext uri="{BB962C8B-B14F-4D97-AF65-F5344CB8AC3E}">
        <p14:creationId xmlns:p14="http://schemas.microsoft.com/office/powerpoint/2010/main" val="601917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E83C-3938-848A-F4B4-D979CD90F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2413-08A4-6FAC-9907-9BBD33DA9506}"/>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CC522913-6A06-127B-5854-A1681F8D6446}"/>
              </a:ext>
            </a:extLst>
          </p:cNvPr>
          <p:cNvSpPr>
            <a:spLocks noGrp="1"/>
          </p:cNvSpPr>
          <p:nvPr>
            <p:ph idx="1"/>
          </p:nvPr>
        </p:nvSpPr>
        <p:spPr>
          <a:xfrm>
            <a:off x="457200" y="1646237"/>
            <a:ext cx="8229600" cy="4525963"/>
          </a:xfrm>
        </p:spPr>
        <p:txBody>
          <a:bodyPr>
            <a:normAutofit lnSpcReduction="10000"/>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1800" i="1" dirty="0"/>
              <a:t>Fig: Product page</a:t>
            </a:r>
          </a:p>
        </p:txBody>
      </p:sp>
      <p:sp>
        <p:nvSpPr>
          <p:cNvPr id="3" name="Date Placeholder 2">
            <a:extLst>
              <a:ext uri="{FF2B5EF4-FFF2-40B4-BE49-F238E27FC236}">
                <a16:creationId xmlns:a16="http://schemas.microsoft.com/office/drawing/2014/main" id="{7D4282BC-0A67-3A29-7ADD-9E9A013DB366}"/>
              </a:ext>
            </a:extLst>
          </p:cNvPr>
          <p:cNvSpPr>
            <a:spLocks noGrp="1"/>
          </p:cNvSpPr>
          <p:nvPr>
            <p:ph type="dt" sz="half" idx="10"/>
          </p:nvPr>
        </p:nvSpPr>
        <p:spPr/>
        <p:txBody>
          <a:bodyPr/>
          <a:lstStyle/>
          <a:p>
            <a:fld id="{B97CCCDB-4457-4C48-985F-BD1C33DF88D2}" type="datetime3">
              <a:rPr lang="en-US" smtClean="0"/>
              <a:t>18 December 2025</a:t>
            </a:fld>
            <a:endParaRPr lang="en-US"/>
          </a:p>
        </p:txBody>
      </p:sp>
      <p:sp>
        <p:nvSpPr>
          <p:cNvPr id="4" name="Footer Placeholder 3">
            <a:extLst>
              <a:ext uri="{FF2B5EF4-FFF2-40B4-BE49-F238E27FC236}">
                <a16:creationId xmlns:a16="http://schemas.microsoft.com/office/drawing/2014/main" id="{E23AD0A2-BAF7-5C06-32C4-EC0494730A6C}"/>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A2F4BE71-2F0A-92A0-DA10-B4601F0BBAC3}"/>
              </a:ext>
            </a:extLst>
          </p:cNvPr>
          <p:cNvSpPr>
            <a:spLocks noGrp="1"/>
          </p:cNvSpPr>
          <p:nvPr>
            <p:ph type="sldNum" sz="quarter" idx="12"/>
          </p:nvPr>
        </p:nvSpPr>
        <p:spPr/>
        <p:txBody>
          <a:bodyPr/>
          <a:lstStyle/>
          <a:p>
            <a:fld id="{7B28076C-CE04-4A00-BFAA-A90EA8355859}" type="slidenum">
              <a:rPr lang="en-US" smtClean="0"/>
              <a:t>9</a:t>
            </a:fld>
            <a:endParaRPr lang="en-US"/>
          </a:p>
        </p:txBody>
      </p:sp>
      <p:pic>
        <p:nvPicPr>
          <p:cNvPr id="8" name="Picture 7">
            <a:extLst>
              <a:ext uri="{FF2B5EF4-FFF2-40B4-BE49-F238E27FC236}">
                <a16:creationId xmlns:a16="http://schemas.microsoft.com/office/drawing/2014/main" id="{718CECE3-C3D2-4AAB-4335-FA8196E5EC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53442"/>
            <a:ext cx="8305800" cy="4151116"/>
          </a:xfrm>
          <a:prstGeom prst="rect">
            <a:avLst/>
          </a:prstGeom>
        </p:spPr>
      </p:pic>
    </p:spTree>
    <p:extLst>
      <p:ext uri="{BB962C8B-B14F-4D97-AF65-F5344CB8AC3E}">
        <p14:creationId xmlns:p14="http://schemas.microsoft.com/office/powerpoint/2010/main" val="4026276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6F96-1CD6-2880-841D-13AB8E045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F5AF4-A482-EFB1-88EE-00D0905FF06D}"/>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68C2AE20-28D2-42D0-387D-080908DE7BCB}"/>
              </a:ext>
            </a:extLst>
          </p:cNvPr>
          <p:cNvSpPr>
            <a:spLocks noGrp="1"/>
          </p:cNvSpPr>
          <p:nvPr>
            <p:ph idx="1"/>
          </p:nvPr>
        </p:nvSpPr>
        <p:spPr>
          <a:xfrm>
            <a:off x="457200" y="1646237"/>
            <a:ext cx="8229600" cy="4525963"/>
          </a:xfrm>
        </p:spPr>
        <p:txBody>
          <a:bodyPr>
            <a:normAutofit lnSpcReduction="10000"/>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1800" i="1" dirty="0"/>
              <a:t>Fig: Cart page</a:t>
            </a:r>
          </a:p>
        </p:txBody>
      </p:sp>
      <p:sp>
        <p:nvSpPr>
          <p:cNvPr id="3" name="Date Placeholder 2">
            <a:extLst>
              <a:ext uri="{FF2B5EF4-FFF2-40B4-BE49-F238E27FC236}">
                <a16:creationId xmlns:a16="http://schemas.microsoft.com/office/drawing/2014/main" id="{E0904E6C-76F0-D678-7D09-9F843544D0BB}"/>
              </a:ext>
            </a:extLst>
          </p:cNvPr>
          <p:cNvSpPr>
            <a:spLocks noGrp="1"/>
          </p:cNvSpPr>
          <p:nvPr>
            <p:ph type="dt" sz="half" idx="10"/>
          </p:nvPr>
        </p:nvSpPr>
        <p:spPr/>
        <p:txBody>
          <a:bodyPr/>
          <a:lstStyle/>
          <a:p>
            <a:fld id="{B97CCCDB-4457-4C48-985F-BD1C33DF88D2}" type="datetime3">
              <a:rPr lang="en-US" smtClean="0"/>
              <a:t>18 December 2025</a:t>
            </a:fld>
            <a:endParaRPr lang="en-US"/>
          </a:p>
        </p:txBody>
      </p:sp>
      <p:sp>
        <p:nvSpPr>
          <p:cNvPr id="4" name="Footer Placeholder 3">
            <a:extLst>
              <a:ext uri="{FF2B5EF4-FFF2-40B4-BE49-F238E27FC236}">
                <a16:creationId xmlns:a16="http://schemas.microsoft.com/office/drawing/2014/main" id="{6D1AC136-CEA2-666D-DDE2-5F9180C20600}"/>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7FF173F8-05FC-9812-EC65-40138BE3BAF4}"/>
              </a:ext>
            </a:extLst>
          </p:cNvPr>
          <p:cNvSpPr>
            <a:spLocks noGrp="1"/>
          </p:cNvSpPr>
          <p:nvPr>
            <p:ph type="sldNum" sz="quarter" idx="12"/>
          </p:nvPr>
        </p:nvSpPr>
        <p:spPr/>
        <p:txBody>
          <a:bodyPr/>
          <a:lstStyle/>
          <a:p>
            <a:fld id="{7B28076C-CE04-4A00-BFAA-A90EA8355859}" type="slidenum">
              <a:rPr lang="en-US" smtClean="0"/>
              <a:t>10</a:t>
            </a:fld>
            <a:endParaRPr lang="en-US"/>
          </a:p>
        </p:txBody>
      </p:sp>
      <p:pic>
        <p:nvPicPr>
          <p:cNvPr id="7" name="Picture 6">
            <a:extLst>
              <a:ext uri="{FF2B5EF4-FFF2-40B4-BE49-F238E27FC236}">
                <a16:creationId xmlns:a16="http://schemas.microsoft.com/office/drawing/2014/main" id="{AF65A055-FA74-2F71-ED36-67AD78658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460" y="1336810"/>
            <a:ext cx="8071340" cy="4184379"/>
          </a:xfrm>
          <a:prstGeom prst="rect">
            <a:avLst/>
          </a:prstGeom>
        </p:spPr>
      </p:pic>
    </p:spTree>
    <p:extLst>
      <p:ext uri="{BB962C8B-B14F-4D97-AF65-F5344CB8AC3E}">
        <p14:creationId xmlns:p14="http://schemas.microsoft.com/office/powerpoint/2010/main" val="20965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6D920-BD03-A879-2C5A-BD6E7C933B5B}"/>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BE604F-E085-A180-4533-C77D121DC58A}"/>
              </a:ext>
            </a:extLst>
          </p:cNvPr>
          <p:cNvSpPr>
            <a:spLocks noGrp="1"/>
          </p:cNvSpPr>
          <p:nvPr>
            <p:ph idx="1"/>
          </p:nvPr>
        </p:nvSpPr>
        <p:spPr/>
        <p:txBody>
          <a:bodyPr>
            <a:normAutofit/>
          </a:bodyPr>
          <a:lstStyle/>
          <a:p>
            <a:pPr marL="0" indent="0" algn="just">
              <a:buNone/>
            </a:pPr>
            <a:r>
              <a:rPr lang="en-US" sz="2000" dirty="0"/>
              <a:t>The e-commerce marketing website successfully demonstrates modern web development using React, delivering a responsive and interactive user experience. The component-based architecture with real-time shopping cart functionality and smooth animations creates a professional platform that addresses traditional website limitations. The project showcases proficiency in React, responsive CSS, and JavaScript, resulting in improved user engagement and maintainability. This marketing website serves as an effective foundation for e-commerce businesses seeking a modern online presence with optimal cross-device compatibility.</a:t>
            </a:r>
            <a:endParaRPr lang="en-IN" sz="2000" dirty="0"/>
          </a:p>
        </p:txBody>
      </p:sp>
      <p:sp>
        <p:nvSpPr>
          <p:cNvPr id="4" name="Date Placeholder 3">
            <a:extLst>
              <a:ext uri="{FF2B5EF4-FFF2-40B4-BE49-F238E27FC236}">
                <a16:creationId xmlns:a16="http://schemas.microsoft.com/office/drawing/2014/main" id="{208463C7-9CAA-5549-57B9-64DCBD7FE335}"/>
              </a:ext>
            </a:extLst>
          </p:cNvPr>
          <p:cNvSpPr>
            <a:spLocks noGrp="1"/>
          </p:cNvSpPr>
          <p:nvPr>
            <p:ph type="dt" sz="half" idx="10"/>
          </p:nvPr>
        </p:nvSpPr>
        <p:spPr/>
        <p:txBody>
          <a:bodyPr/>
          <a:lstStyle/>
          <a:p>
            <a:fld id="{EB7275DB-6D13-480B-AC77-F5019BDC5287}" type="datetime3">
              <a:rPr lang="en-US" smtClean="0"/>
              <a:t>18 December 2025</a:t>
            </a:fld>
            <a:endParaRPr lang="en-US"/>
          </a:p>
        </p:txBody>
      </p:sp>
      <p:sp>
        <p:nvSpPr>
          <p:cNvPr id="5" name="Footer Placeholder 4">
            <a:extLst>
              <a:ext uri="{FF2B5EF4-FFF2-40B4-BE49-F238E27FC236}">
                <a16:creationId xmlns:a16="http://schemas.microsoft.com/office/drawing/2014/main" id="{2C37FB72-B32B-A8D4-C9C7-934213468BD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E592B28-CCC0-2668-8276-B214578BE86D}"/>
              </a:ext>
            </a:extLst>
          </p:cNvPr>
          <p:cNvSpPr>
            <a:spLocks noGrp="1"/>
          </p:cNvSpPr>
          <p:nvPr>
            <p:ph type="sldNum" sz="quarter" idx="12"/>
          </p:nvPr>
        </p:nvSpPr>
        <p:spPr/>
        <p:txBody>
          <a:bodyPr/>
          <a:lstStyle/>
          <a:p>
            <a:fld id="{7B28076C-CE04-4A00-BFAA-A90EA8355859}" type="slidenum">
              <a:rPr lang="en-US" smtClean="0"/>
              <a:t>11</a:t>
            </a:fld>
            <a:endParaRPr lang="en-US"/>
          </a:p>
        </p:txBody>
      </p:sp>
    </p:spTree>
    <p:extLst>
      <p:ext uri="{BB962C8B-B14F-4D97-AF65-F5344CB8AC3E}">
        <p14:creationId xmlns:p14="http://schemas.microsoft.com/office/powerpoint/2010/main" val="208454217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764</Words>
  <Application>Microsoft Office PowerPoint</Application>
  <PresentationFormat>On-screen Show (4:3)</PresentationFormat>
  <Paragraphs>121</Paragraphs>
  <Slides>11</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Custom Design</vt:lpstr>
      <vt:lpstr>  </vt:lpstr>
      <vt:lpstr>ABSTRACT</vt:lpstr>
      <vt:lpstr>EXISTING SYSTEM</vt:lpstr>
      <vt:lpstr>PROPOSED SYSTEM</vt:lpstr>
      <vt:lpstr>ADVANTAGES</vt:lpstr>
      <vt:lpstr>DISADVANTAGES</vt:lpstr>
      <vt:lpstr>MODULES</vt:lpstr>
      <vt:lpstr>SAMPLE OUTPUT</vt:lpstr>
      <vt:lpstr>SAMPLE OUTPUT</vt:lpstr>
      <vt:lpstr>SAMPLE OUTPUT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Abhinav T K</cp:lastModifiedBy>
  <cp:revision>128</cp:revision>
  <dcterms:created xsi:type="dcterms:W3CDTF">2019-11-06T07:48:00Z</dcterms:created>
  <dcterms:modified xsi:type="dcterms:W3CDTF">2025-12-18T06:15:03Z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DE20839960574E60BD3B4661623EDE19_12</vt:lpwstr>
  </property>
  <property fmtid="{D5CDD505-2E9C-101B-9397-08002B2CF9AE}" pid="3" name="KSOProductBuildVer">
    <vt:lpwstr>1033-12.2.0.23131</vt:lpwstr>
  </property>
</Properties>
</file>